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</p:sldIdLst>
  <p:sldSz cx="12188825" cy="6858000"/>
  <p:notesSz cx="6858000" cy="9144000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777777"/>
    <a:srgbClr val="070707"/>
    <a:srgbClr val="0E3689"/>
    <a:srgbClr val="1D9CE4"/>
    <a:srgbClr val="FFD53A"/>
    <a:srgbClr val="702076"/>
    <a:srgbClr val="5EBF33"/>
    <a:srgbClr val="FD7F20"/>
    <a:srgbClr val="0E1454"/>
    <a:srgbClr val="CE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 autoAdjust="0"/>
    <p:restoredTop sz="94830"/>
  </p:normalViewPr>
  <p:slideViewPr>
    <p:cSldViewPr snapToGrid="0" snapToObjects="1">
      <p:cViewPr varScale="1">
        <p:scale>
          <a:sx n="81" d="100"/>
          <a:sy n="81" d="100"/>
        </p:scale>
        <p:origin x="1018" y="67"/>
      </p:cViewPr>
      <p:guideLst>
        <p:guide orient="horz" pos="60"/>
        <p:guide pos="24"/>
        <p:guide orient="horz" pos="80"/>
        <p:guide pos="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3832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E49F-5C3A-ED4E-A68A-CCB3AA3B5D5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CB49-A7FB-5E4A-B599-DE2118135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74260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29115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943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78931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60" r:id="rId5"/>
    <p:sldLayoutId id="2147483652" r:id="rId6"/>
    <p:sldLayoutId id="2147483657" r:id="rId7"/>
    <p:sldLayoutId id="2147483653" r:id="rId8"/>
    <p:sldLayoutId id="2147483658" r:id="rId9"/>
    <p:sldLayoutId id="2147483654" r:id="rId10"/>
    <p:sldLayoutId id="2147483659" r:id="rId11"/>
    <p:sldLayoutId id="2147483655" r:id="rId12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16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T1S 100BASE-T Bridge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Layer 2 Bridge Firmware for ATSAME54P20A</a:t>
            </a:r>
          </a:p>
          <a:p>
            <a:r>
              <a:t>Microchip Technology</a:t>
            </a:r>
          </a:p>
          <a:p>
            <a:r>
              <a:t>2026-08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Architecture &amp; Hardware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Platform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66928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Microcontroller — SAM E54P20A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66928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Network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Cortex-M4 core, 120 MHz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256 KB SRAM (heap + stack)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Integrated Ethernet MAC (GMAC)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SPI interface (CS=PC15, INT=PC14)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UART via EDBG probe for CLI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Emulated EEPROM for persistent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659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eth0: LAN8651 PHY (10BASE-T1S)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Single-pair Ethernet (point-to-point)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PLCA collision avoidance built-in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eth1: LAN8740A PHY (100BASE-T)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Multi-pair Ethernet (standard)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L2 Bridge: transparent frame forwarding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Assembly</a:t>
            </a:r>
          </a:p>
        </p:txBody>
      </p:sp>
      <p:pic>
        <p:nvPicPr>
          <p:cNvPr id="3" name="Picture 2" descr="boards_conver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781" y="1554480"/>
            <a:ext cx="5187388" cy="35204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SAM E54 Curiosity Ultra (red board) + LAN8651 Two-Wire ETH Click (green, eth0) + LAN8740A PHY Daughter Board (bottom left, eth1)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Layout &amp;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SAM E54 Curiosity Ultra Development Board (red in photo)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EDBG on-board debugger (UART debug console)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GMAC connector for eth1 (100BASE-T to LAN8740A PHY)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Mikrobus socket for SPI peripheral expansion</a:t>
            </a:r>
          </a:p>
          <a:p>
            <a:pPr/>
            <a:r>
              <a:rPr sz="1800">
                <a:solidFill>
                  <a:srgbClr val="0B2E4F"/>
                </a:solidFill>
              </a:rPr>
              <a:t>LAN8651 Two-Wire ETH Click (green in photo, MIKROE-5543)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Mounts in Mikrobus socket of SAM E54 board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SPI master (DIN=MOSI, DOUT=MISO, CLK=SCK, CS=PC15)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Interrupt pin nIRQ on PC14</a:t>
            </a:r>
          </a:p>
          <a:p>
            <a:pPr/>
            <a:r>
              <a:rPr sz="1800">
                <a:solidFill>
                  <a:srgbClr val="0B2E4F"/>
                </a:solidFill>
              </a:rPr>
              <a:t>LAN8740A PHY Daughter Board (bottom-left in photo, AC320004-3)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Connects to GMAC interface of SAM E54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Four twisted-pair Ethernet port (standard RJ45)</a:t>
            </a:r>
          </a:p>
          <a:p>
            <a:pPr/>
            <a:r>
              <a:rPr sz="1800">
                <a:solidFill>
                  <a:srgbClr val="0B2E4F"/>
                </a:solidFill>
              </a:rPr>
              <a:t>Single 10BASE-T1S Cable (Point-to-Point)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Connects all nodes on the T1S network segment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Two wires (TX+, TX-) carry all PLCA-coordinated traffic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Path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645920"/>
            <a:ext cx="1767840" cy="10058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T1S Network
(point-to-point)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70760" y="1645920"/>
            <a:ext cx="1767840" cy="100584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LAN8651 PHY
(Receive)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1480" y="1645920"/>
            <a:ext cx="1767840" cy="100584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SPI/TC6
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1767840" cy="100584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SAM E54
MAC (GMAC)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2920" y="1645920"/>
            <a:ext cx="1767840" cy="10058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L2 Bridge
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3640" y="1645920"/>
            <a:ext cx="1767840" cy="10058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100BASE-T
Network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788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3860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8932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4004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9076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10896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Frames arrive on eth0 via 10BASE-T1S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LAN8651 buffers &amp; signals via SPI interrupt (PC14)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SAM E54 reads frame, learns MAC, forwards to eth1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GMAC transmits on 100BASE-T; return path mirrors back to T1S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LAN8651 — 10BASE-T1S PHY with PLCA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Hardware timestamping on RX/TX for PTP (future)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PLCA slots (contention-free scheduling)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IEEE test modes (voltage, droop, spectrum, high-Z)</a:t>
            </a:r>
          </a:p>
          <a:p>
            <a:pPr/>
            <a:r>
              <a:rPr sz="1800">
                <a:solidFill>
                  <a:srgbClr val="0B2E4F"/>
                </a:solidFill>
              </a:rPr>
              <a:t>LAN8740A — Standard 100BASE-T PHY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Multi-pair (four twisted pairs per connection)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No PLCA — legacy Multi-Master-Slave scheduling</a:t>
            </a:r>
          </a:p>
          <a:p>
            <a:pPr/>
            <a:r>
              <a:rPr sz="1800">
                <a:solidFill>
                  <a:srgbClr val="0B2E4F"/>
                </a:solidFill>
              </a:rPr>
              <a:t>MPLAB Harmony v3 — TCP/IP Stack with L2 Bridge Patches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Dual-PHY MAC learning &amp; forwarding logic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Port mirroring (SPAN) support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Raw frame injection (EtherType bypass)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PLCA — Physical Layer Collision Avoidance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PLCA Concept — Deterministic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66928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Traditional Ethernet (CSMA/CD)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66928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PLCA (IEEE 802.3-2022 Clause 171)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Carriers sense &amp; listen before transmit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Collision on multi-drop bus → backoff retry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Latency unpredictable, varies with load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Throughput degrades as node count grows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659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Coordinator grants time slots to nodes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Each node waits its turn — zero collisions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Latency bounded, deterministic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Ideal for industrial &amp; automotive real-time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PLCA Parameters &amp;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Node ID — 0..255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0 = Coordinator (grants slots, sends beacons)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1–255 = Regular nodes (wait for slot)</a:t>
            </a:r>
          </a:p>
          <a:p>
            <a:pPr/>
            <a:r>
              <a:rPr sz="1800">
                <a:solidFill>
                  <a:srgbClr val="0B2E4F"/>
                </a:solidFill>
              </a:rPr>
              <a:t>Node Count (CNT) — 1..255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Number of active nodes on the segment</a:t>
            </a:r>
          </a:p>
          <a:p>
            <a:pPr/>
            <a:r>
              <a:rPr sz="1800">
                <a:solidFill>
                  <a:srgbClr val="0B2E4F"/>
                </a:solidFill>
              </a:rPr>
              <a:t>Slot Time — microseconds per PLCA slot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Default varies with media (10BASE-T1S: ~40 µs/slot)</a:t>
            </a:r>
          </a:p>
          <a:p>
            <a:pPr/>
            <a:r>
              <a:rPr sz="1800">
                <a:solidFill>
                  <a:srgbClr val="0B2E4F"/>
                </a:solidFill>
              </a:rPr>
              <a:t>Enabled via setenv plca_id &lt;N&gt;; saveenv (persistent)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Functional Features &amp; CLI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L2 Bridging vs. Port Mirroring — Two Different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11475720" cy="45720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1">
                <a:solidFill>
                  <a:srgbClr val="0B2E4F"/>
                </a:solidFill>
              </a:rPr>
              <a:t>Why do we need 'mirror on' if the bridge already forwards traffic?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965960"/>
            <a:ext cx="566928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L2 Bridge (Normal Operation)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65960"/>
            <a:ext cx="566928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Port Mirror (SPAN — Debugging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56032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Forwards traffic between eth0 ↔ eth1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Data frames flow through transparently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eth0 frames go to eth1 (and vice versa)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Each frame delivered ONCE to destination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T1S nodes talk to 100BASE-T network — bridge is invisible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Use case: normal bridge operation (production)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COPIES eth0 frames to eth1 for monitoring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eth0 traffic is duplicated (not moved)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Original bridge forwarding still happens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Extra copy sent to Wireshark on the PC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Analyzer sees T1S bus without physical probe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Use case: debugging, compliance testing, bus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Mirror Is Essential for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The 100BASE-T side (eth1) cannot natively see T1S traffic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Two different physical media with different PHYs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Wireshark on the PC plugged into eth1 sees only 100BASE-T frames</a:t>
            </a:r>
          </a:p>
          <a:p>
            <a:pPr/>
            <a:r>
              <a:rPr sz="1800">
                <a:solidFill>
                  <a:srgbClr val="0B2E4F"/>
                </a:solidFill>
              </a:rPr>
              <a:t>To see T1S frames on your PC, the bridge must copy them to eth1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mirror 1 enables SPAN — copy eth0 → eth1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mirror 0 disables SPAN — back to normal bridging</a:t>
            </a:r>
          </a:p>
          <a:p>
            <a:pPr/>
            <a:r>
              <a:rPr sz="1800">
                <a:solidFill>
                  <a:srgbClr val="0B2E4F"/>
                </a:solidFill>
              </a:rPr>
              <a:t>Mirror does NOT interfere with the bridge forwarding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Data flows normally AND gets copied for analysis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Perfect for seeing T1S bus traffic without stopping the bridge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Bridge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11430000" cy="45720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1">
                <a:solidFill>
                  <a:srgbClr val="0B2E4F"/>
                </a:solidFill>
              </a:rPr>
              <a:t>Three independent, complementary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920240"/>
            <a:ext cx="370332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L2 Forwarding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14600"/>
            <a:ext cx="361187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0B2E4F"/>
                </a:solidFill>
              </a:rPr>
              <a:t>• Transparent MAC learning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eth0 ↔ eth1 bidirectional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PLCA-aware scheduling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FDB aging (default 5 min)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920240"/>
            <a:ext cx="3703320" cy="5029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Port Mirroring (SPAN)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514600"/>
            <a:ext cx="361187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0B2E4F"/>
                </a:solidFill>
              </a:rPr>
              <a:t>• Copy eth0 → eth1 (SPAN)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Duplicate, not redirect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Wireshark capture capable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Toggleable: mirror 1/0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920240"/>
            <a:ext cx="370332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Raw Frame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514600"/>
            <a:ext cx="361187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0B2E4F"/>
                </a:solidFill>
              </a:rPr>
              <a:t>• EtherType 0x88B5 bypass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TCP/IP stack agnostic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Reproducible timing tests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noip_send / noip_stat cmds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CLI Commands —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B2E4F"/>
                </a:solidFill>
                <a:latin typeface="Consolas"/>
              </a:rPr>
              <a:t># Environment (Persistent in EEPROM)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showenv                      # Show IP, MAC, PLCA settings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setenv ipaddr 192.168.0.200  # Set eth0 IP (default)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setenv hwaddr 00:1A:2B:3C:4D:5E  # Set MAC address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setenv plca_id 0             # Set Node ID (0=Coordinator)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setenv plca_cnt 8            # Set Node Count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saveenv                      # Persist to EEPROM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readenv                      # Read from EEPROM (verify)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resetenv                     # Restore factory defaults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CLI Commands —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B2E4F"/>
                </a:solidFill>
                <a:latin typeface="Consolas"/>
              </a:rPr>
              <a:t># Bridging &amp; Diagnostics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stats                        # Real-time counters (RX/TX packets)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meminfo                      # Heap usage, free memory, watermark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dump 0x20000000 64           # Hex memory dump (64 bytes)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mirror 1                     # Enable Port Mirroring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mirror 0                     # Disable Port Mirroring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# PHY &amp; Register Access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lan_read  0x000308FB         # Read LAN8651 register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lan_write 0x000308FB 0x2000  # Write register value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lan_rmw   0x000308FB 0x7000 0x2000  # Read-Modify-Write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Test Modes &amp; PLCA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B2E4F"/>
                </a:solidFill>
                <a:latin typeface="Consolas"/>
              </a:rPr>
              <a:t># Test Modes (IEEE 802.3-2022 §147.5.2)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testmode              # Show current mode (0=Normal)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testmode 1            # Test Mode 1 (voltage/jitter)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testmode 1 30         # Mode 1 + auto-revert after 30 s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testmode 2            # Test Mode 2 (droop)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testmode 3            # Test Mode 3 (spectrum)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testmode 4            # Test Mode 4 (high-Z/open circuit)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testmode 0            # Return to normal operation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# PLCA Runtime Control (volatile, lost on reboot)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plca_node             # Show current Node ID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plca_node 0           # Become Coordinator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plca_node 7           # Join as regular node #7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Frame Testing &amp; Network Perf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B2E4F"/>
                </a:solidFill>
                <a:latin typeface="Consolas"/>
              </a:rPr>
              <a:t># Raw Frame Testing (No IP stack)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noip_send 10 2        # Send 10 frames, 2 ms apart (EtherType 0x88B5)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noip_stat             # Show frame counters (RX/TX/loss)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# Performance Testing (requires iperf client)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iperf                 # Start iperf server (default 5001)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iperfk                # Stop iperf gracefully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# Help &amp; Discovery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help                  # List all commands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lanhelp               # LAN865x register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47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0B2E4F"/>
                </a:solidFill>
              </a:rPr>
              <a:t>• noip_send bypasses TCP/IP stack — pure Ethernet measurements</a:t>
            </a:r>
          </a:p>
          <a:p>
            <a:pPr/>
            <a:r>
              <a:rPr sz="1200">
                <a:solidFill>
                  <a:srgbClr val="0B2E4F"/>
                </a:solidFill>
              </a:rPr>
              <a:t>• Useful for latency-sensitive protocols (SOME/IP-SD, CANopen over Ethernet)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Register Addressing — Memory Map Selector (MMS)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66928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MMS Ranges &amp; Banks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66928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Address Encoding &amp;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0x00: OA Standard (config, status)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0x01: MAC (Wall Clock, TX-TS)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0x02: PHY PCS (link control)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0x03: PHY PMA/PMD (test modes, loopback)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0x04: PHY Vendor (PLCA, SQI, CFD)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0x0A: Misc (1PPS, PADCTRL, DEVID)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659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Full = (MMS &lt;&lt; 16) | Offset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PLCA_CTRL1 = 0x0004CA02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MMS 0x04 (Vendor), Offset 0xCA02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T1STSTCTL (test modes) = 0x000308FB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MMS 0x03 (PMA/PMD), Offset 0x08FB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ALWAYS verify with lan_read after writes!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4: Test Modes in 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802.3 Test Modes — What &amp;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Test Mode 1 (T1STSTCTL = 0x2000)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Measures: Output voltage, timing jitter, frequency accuracy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Instrument: Oscilloscope with rise/fall edge detection</a:t>
            </a:r>
          </a:p>
          <a:p>
            <a:pPr/>
            <a:r>
              <a:rPr sz="1800">
                <a:solidFill>
                  <a:srgbClr val="0B2E4F"/>
                </a:solidFill>
              </a:rPr>
              <a:t>Test Mode 2 (0x4000)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Measures: Output droop (voltage sag under load)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Instrument: Oscilloscope (zoom on falling edge)</a:t>
            </a:r>
          </a:p>
          <a:p>
            <a:pPr/>
            <a:r>
              <a:rPr sz="1800">
                <a:solidFill>
                  <a:srgbClr val="0B2E4F"/>
                </a:solidFill>
              </a:rPr>
              <a:t>Test Mode 3 (0x6000)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Measures: PSD spectrum (EMI/RFI compliance)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Instrument: Spectrum analyzer (1 MHz–1 GHz)</a:t>
            </a:r>
          </a:p>
          <a:p>
            <a:pPr/>
            <a:r>
              <a:rPr sz="1800">
                <a:solidFill>
                  <a:srgbClr val="0B2E4F"/>
                </a:solidFill>
              </a:rPr>
              <a:t>Test Mode 4 (0x8000)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Transmitter goes high-impedance (open circuit)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Measures: Bus impedance, cable termination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Always read back after every mode change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lan_read 0x000308FB verifies the write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testmode command auto-verifies ([VERIFY] PASS/FAIL)</a:t>
            </a:r>
          </a:p>
          <a:p>
            <a:pPr/>
            <a:r>
              <a:rPr sz="1800">
                <a:solidFill>
                  <a:srgbClr val="0B2E4F"/>
                </a:solidFill>
              </a:rPr>
              <a:t>Safety: T1S link is DOWN during test modes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Bridge cannot forward traffic during measurement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Auto-revert prevents accidental lockout (testmode 1 30)</a:t>
            </a:r>
          </a:p>
          <a:p>
            <a:pPr/>
            <a:r>
              <a:rPr sz="1800">
                <a:solidFill>
                  <a:srgbClr val="0B2E4F"/>
                </a:solidFill>
              </a:rPr>
              <a:t>Test modes are transient — revert to 0x0000 when done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5: Build, Deployment &amp; Troubleshooting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&amp; Flash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Clone repo → build.bat (generates makefiles + compiles)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No manual MPLAB-X steps required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nbproject/Makefile-*.mk auto-generated from .xml</a:t>
            </a:r>
          </a:p>
          <a:p>
            <a:pPr/>
            <a:r>
              <a:rPr sz="1800">
                <a:solidFill>
                  <a:srgbClr val="0B2E4F"/>
                </a:solidFill>
              </a:rPr>
              <a:t>build.bat rebuild for clean rebuild</a:t>
            </a:r>
          </a:p>
          <a:p>
            <a:pPr/>
            <a:r>
              <a:rPr sz="1800">
                <a:solidFill>
                  <a:srgbClr val="0B2E4F"/>
                </a:solidFill>
              </a:rPr>
              <a:t>flash.bat deploys via pyOCD + EDBG probe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Artifact: firmware/T1S_100BaseT_Bridge.X/dist/…/…hex</a:t>
            </a:r>
          </a:p>
          <a:p>
            <a:pPr/>
            <a:r>
              <a:rPr sz="1800">
                <a:solidFill>
                  <a:srgbClr val="0B2E4F"/>
                </a:solidFill>
              </a:rPr>
              <a:t>Console: EDBG COM port, 115200 8N1 (auto on plug)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python cli.py --port COM8 --read 1 '&lt;cmd&gt;' to send commands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Setup — IP Addressing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66928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Bridge Interface IPs (Fixed)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66928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Host PC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eth0 (LAN8651): 192.168.0.200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eth1 (GMAC): 192.168.0.210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Both in same /24 subnet (no routing)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Codified in configuration.h (static, DHCP off)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Persistent over reboot — no re-negotiation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6596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B2E4F"/>
                </a:solidFill>
              </a:rPr>
              <a:t>• eth1 adapter → static 192.168.0.100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Netmask 255.255.255.0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Verify with ipconfig or netsh</a:t>
            </a:r>
          </a:p>
          <a:p>
            <a:pPr/>
            <a:r>
              <a:rPr sz="1300">
                <a:solidFill>
                  <a:srgbClr val="0B2E4F"/>
                </a:solidFill>
              </a:rPr>
              <a:t>• Ping tests: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ping 192.168.0.200 → eth0 reachable</a:t>
            </a:r>
          </a:p>
          <a:p>
            <a:pPr lvl="1"/>
            <a:r>
              <a:rPr sz="1200">
                <a:solidFill>
                  <a:srgbClr val="0B2E4F"/>
                </a:solidFill>
              </a:rPr>
              <a:t>– ping 192.168.0.210 → eth1 reachable &amp; forwarding works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Troubleshooting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Bridge not forwarding frames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Check: mirror 0 (disable mirroring, test core logic)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Check: stats (count RX/TX, look for drops)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Check: test_mirror.py (automated bidirectional test)</a:t>
            </a:r>
          </a:p>
          <a:p>
            <a:pPr/>
            <a:r>
              <a:rPr sz="1800">
                <a:solidFill>
                  <a:srgbClr val="0B2E4F"/>
                </a:solidFill>
              </a:rPr>
              <a:t>PLCA nodes not synchronizing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Verify: plca_node 0 on one board (Coordinator)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Verify: plca_node 1–7 on other boards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Check: test_lan8651.py (auto-verifies PLCA frames flow)</a:t>
            </a:r>
          </a:p>
          <a:p>
            <a:pPr/>
            <a:r>
              <a:rPr sz="1800">
                <a:solidFill>
                  <a:srgbClr val="0B2E4F"/>
                </a:solidFill>
              </a:rPr>
              <a:t>Addresses show (Duplicate) in Windows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Conflict with 192.168.0.200 or .210 — use .100 on host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6: Automation &amp;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test_lan8651.py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Verifies all four IEEE test modes (Readback, traffic-stops, traffic-resumes)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Requires: PLCA Coordinator (Node ID 0), python3, pyserial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Exit code 0 = all modes pass; ≠ 0 = failure (easy CI integration)</a:t>
            </a:r>
          </a:p>
          <a:p>
            <a:pPr/>
            <a:r>
              <a:rPr sz="1800">
                <a:solidFill>
                  <a:srgbClr val="0B2E4F"/>
                </a:solidFill>
              </a:rPr>
              <a:t>test_mirror.py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Checks Port Mirror bidirectionality (eth0→eth1, eth1→eth0)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Catches silent failure if DRV_LAN865X_PacketTx hook is missing</a:t>
            </a:r>
          </a:p>
          <a:p>
            <a:pPr/>
            <a:r>
              <a:rPr sz="1800">
                <a:solidFill>
                  <a:srgbClr val="0B2E4F"/>
                </a:solidFill>
              </a:rPr>
              <a:t>cli.py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Python tool — send CLI commands from scripts, parse responses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Enables: iperf automation, register sweeps, log collection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7: Reference &amp; Resources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README.md — Full architecture, setup, iperf examples, FAQs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Best starting point for new users</a:t>
            </a:r>
          </a:p>
          <a:p>
            <a:pPr/>
            <a:r>
              <a:rPr sz="1800">
                <a:solidFill>
                  <a:srgbClr val="0B2E4F"/>
                </a:solidFill>
              </a:rPr>
              <a:t>LAN8651_TEST_MODES.md — Test mode deep dive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Measurement setup, example plots, troubleshooting</a:t>
            </a:r>
          </a:p>
          <a:p>
            <a:pPr/>
            <a:r>
              <a:rPr sz="1800">
                <a:solidFill>
                  <a:srgbClr val="0B2E4F"/>
                </a:solidFill>
              </a:rPr>
              <a:t>CLAUDE.md — Firmware implementation notes &amp; fallstricke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Register quirks, callback pitfalls, PLCA addressing</a:t>
            </a:r>
          </a:p>
          <a:p>
            <a:pPr/>
            <a:r>
              <a:rPr sz="1800">
                <a:solidFill>
                  <a:srgbClr val="0B2E4F"/>
                </a:solidFill>
              </a:rPr>
              <a:t>CLI_COMMANDS.md — Command reference (auto-generated)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Tools &amp;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build.bat — Compile &amp; link (auto makefiles)</a:t>
            </a:r>
          </a:p>
          <a:p>
            <a:pPr/>
            <a:r>
              <a:rPr sz="1800">
                <a:solidFill>
                  <a:srgbClr val="0B2E4F"/>
                </a:solidFill>
              </a:rPr>
              <a:t>flash.bat — Deploy via pyOCD</a:t>
            </a:r>
          </a:p>
          <a:p>
            <a:pPr/>
            <a:r>
              <a:rPr sz="1800">
                <a:solidFill>
                  <a:srgbClr val="0B2E4F"/>
                </a:solidFill>
              </a:rPr>
              <a:t>cli.py — Send commands over UART, capture responses</a:t>
            </a:r>
          </a:p>
          <a:p>
            <a:pPr/>
            <a:r>
              <a:rPr sz="1800">
                <a:solidFill>
                  <a:srgbClr val="0B2E4F"/>
                </a:solidFill>
              </a:rPr>
              <a:t>test_lan8651.py — IEEE test mode verification</a:t>
            </a:r>
          </a:p>
          <a:p>
            <a:pPr/>
            <a:r>
              <a:rPr sz="1800">
                <a:solidFill>
                  <a:srgbClr val="0B2E4F"/>
                </a:solidFill>
              </a:rPr>
              <a:t>test_mirror.py — Port Mirror bidirectional check</a:t>
            </a:r>
          </a:p>
          <a:p>
            <a:pPr/>
            <a:r>
              <a:rPr sz="1800">
                <a:solidFill>
                  <a:srgbClr val="0B2E4F"/>
                </a:solidFill>
              </a:rPr>
              <a:t>build_summary.py — Flash/RAM usage &amp; interrupt summary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IEEE 802.3-2022 Clause 171 — PLCA specification</a:t>
            </a:r>
          </a:p>
          <a:p>
            <a:pPr/>
            <a:r>
              <a:rPr sz="1800">
                <a:solidFill>
                  <a:srgbClr val="0B2E4F"/>
                </a:solidFill>
              </a:rPr>
              <a:t>IEEE 802.3-2022 Clause 147.5.2 — 10BASE-T1S test modes</a:t>
            </a:r>
          </a:p>
          <a:p>
            <a:pPr/>
            <a:r>
              <a:rPr sz="1800">
                <a:solidFill>
                  <a:srgbClr val="0B2E4F"/>
                </a:solidFill>
              </a:rPr>
              <a:t>LAN8651 Datasheet — PHY register definitions, timing</a:t>
            </a:r>
          </a:p>
          <a:p>
            <a:pPr/>
            <a:r>
              <a:rPr sz="1800">
                <a:solidFill>
                  <a:srgbClr val="0B2E4F"/>
                </a:solidFill>
              </a:rPr>
              <a:t>SAM E54 DS — Memory map, GMAC, SPI, EEPROM</a:t>
            </a:r>
          </a:p>
          <a:p>
            <a:pPr/>
            <a:r>
              <a:rPr sz="1800">
                <a:solidFill>
                  <a:srgbClr val="0B2E4F"/>
                </a:solidFill>
              </a:rPr>
              <a:t>MPLAB Harmony v3 TCP/IP Stack Documentation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8: Use Cases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Deployment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Industrial Automation — Extend 100BASE-T to single-pair (long cable runs)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Cost reduction: 4 twisted pairs → 1 pair (cable &amp; connector savings)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Deterministic PLCA scheduling for motion control</a:t>
            </a:r>
          </a:p>
          <a:p>
            <a:pPr/>
            <a:r>
              <a:rPr sz="1800">
                <a:solidFill>
                  <a:srgbClr val="0B2E4F"/>
                </a:solidFill>
              </a:rPr>
              <a:t>Automotive In-Vehicle Networking — T1S backbone with 100BASE-T gateways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Mixed-media bridge for legacy &amp; next-gen nodes</a:t>
            </a:r>
          </a:p>
          <a:p>
            <a:pPr/>
            <a:r>
              <a:rPr sz="1800">
                <a:solidFill>
                  <a:srgbClr val="0B2E4F"/>
                </a:solidFill>
              </a:rPr>
              <a:t>Building Automation — T1S branch (energy efficient) to Ethernet backbone</a:t>
            </a:r>
          </a:p>
          <a:p>
            <a:pPr lvl="1"/>
            <a:r>
              <a:rPr sz="1600">
                <a:solidFill>
                  <a:srgbClr val="0B2E4F"/>
                </a:solidFill>
              </a:rPr>
              <a:t>Low power sensors on T1S; aggregation on 100BASE-T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 (Out of 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548640" y="1554480"/>
            <a:ext cx="11091672" cy="5074920"/>
          </a:xfrm>
        </p:spPr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PTP 1588 — IEEE time synchronization (10 µs median tested)</a:t>
            </a:r>
          </a:p>
          <a:p>
            <a:pPr/>
            <a:r>
              <a:rPr sz="1800">
                <a:solidFill>
                  <a:srgbClr val="0B2E4F"/>
                </a:solidFill>
              </a:rPr>
              <a:t>Cyclic Fire — scheduled actions at synchronized timestamps</a:t>
            </a:r>
          </a:p>
          <a:p>
            <a:pPr/>
            <a:r>
              <a:rPr sz="1800">
                <a:solidFill>
                  <a:srgbClr val="0B2E4F"/>
                </a:solidFill>
              </a:rPr>
              <a:t>VLAN support — multiple virtual bridges</a:t>
            </a:r>
          </a:p>
          <a:p>
            <a:pPr/>
            <a:r>
              <a:rPr sz="1800">
                <a:solidFill>
                  <a:srgbClr val="0B2E4F"/>
                </a:solidFill>
              </a:rPr>
              <a:t>QoS — priority queuing per PLCA node</a:t>
            </a:r>
          </a:p>
          <a:p>
            <a:pPr/>
            <a:r>
              <a:rPr sz="1800">
                <a:solidFill>
                  <a:srgbClr val="0B2E4F"/>
                </a:solidFill>
              </a:rPr>
              <a:t>Remote management — SNMP, syslog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T1S 100BASE-T Bridge Training — Complete</a:t>
            </a:r>
          </a:p>
          <a:p>
            <a:r>
              <a:t>Microchip Field Application Engineering</a:t>
            </a:r>
          </a:p>
          <a:p>
            <a:r>
              <a:t>2026-08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_x0020_Archived xmlns="df7acb31-37ac-40e2-81bb-c44e3630f613">false</Content_x0020_Archived>
    <_dlc_DocId xmlns="38ef598d-997c-498b-b737-2f6b2c50ccab">SV5CHKDEWJXD-84-133</_dlc_DocId>
    <_dlc_DocIdUrl xmlns="38ef598d-997c-498b-b737-2f6b2c50ccab">
      <Url>http://mchpweb-2010/marcom/home/Resources/_layouts/DocIdRedir.aspx?ID=SV5CHKDEWJXD-84-133</Url>
      <Description>SV5CHKDEWJXD-84-133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EF9829FE6FB94D84D3D1D5B1820991" ma:contentTypeVersion="2" ma:contentTypeDescription="Create a new document." ma:contentTypeScope="" ma:versionID="84d427fd2fb92a215479da5b0fe5e4ad">
  <xsd:schema xmlns:xsd="http://www.w3.org/2001/XMLSchema" xmlns:xs="http://www.w3.org/2001/XMLSchema" xmlns:p="http://schemas.microsoft.com/office/2006/metadata/properties" xmlns:ns2="38ef598d-997c-498b-b737-2f6b2c50ccab" xmlns:ns3="df7acb31-37ac-40e2-81bb-c44e3630f613" targetNamespace="http://schemas.microsoft.com/office/2006/metadata/properties" ma:root="true" ma:fieldsID="156788901a84a305ff90b9b24ba2d9fb" ns2:_="" ns3:_="">
    <xsd:import namespace="38ef598d-997c-498b-b737-2f6b2c50ccab"/>
    <xsd:import namespace="df7acb31-37ac-40e2-81bb-c44e3630f61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Content_x0020_Archiv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ef598d-997c-498b-b737-2f6b2c50cca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7acb31-37ac-40e2-81bb-c44e3630f613" elementFormDefault="qualified">
    <xsd:import namespace="http://schemas.microsoft.com/office/2006/documentManagement/types"/>
    <xsd:import namespace="http://schemas.microsoft.com/office/infopath/2007/PartnerControls"/>
    <xsd:element name="Content_x0020_Archived" ma:index="11" nillable="true" ma:displayName="Content Archived" ma:internalName="Content_x0020_Archived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5774815-801A-4D0C-AAC8-304A8EA5EAE0}">
  <ds:schemaRefs>
    <ds:schemaRef ds:uri="http://schemas.microsoft.com/office/2006/metadata/properties"/>
    <ds:schemaRef ds:uri="http://schemas.microsoft.com/office/infopath/2007/PartnerControls"/>
    <ds:schemaRef ds:uri="df7acb31-37ac-40e2-81bb-c44e3630f613"/>
    <ds:schemaRef ds:uri="38ef598d-997c-498b-b737-2f6b2c50ccab"/>
  </ds:schemaRefs>
</ds:datastoreItem>
</file>

<file path=customXml/itemProps2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647E8-EA5A-4469-8198-396AF1DA17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ef598d-997c-498b-b737-2f6b2c50ccab"/>
    <ds:schemaRef ds:uri="df7acb31-37ac-40e2-81bb-c44e3630f6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6ECED7C-7E24-4B80-B6AD-5BF0A508FB7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SMSC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 2020</dc:title>
  <dc:creator>Michael Wikan</dc:creator>
  <cp:lastModifiedBy>Martin Ruppert - M91221</cp:lastModifiedBy>
  <cp:revision>227</cp:revision>
  <dcterms:created xsi:type="dcterms:W3CDTF">2019-09-10T21:33:18Z</dcterms:created>
  <dcterms:modified xsi:type="dcterms:W3CDTF">2020-08-05T09:50:09Z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6b1d4785-8f50-4d6b-8c29-4627085ae703</vt:lpwstr>
  </property>
  <property fmtid="{D5CDD505-2E9C-101B-9397-08002B2CF9AE}" pid="3" name="ContentTypeId">
    <vt:lpwstr>0x01010006EF9829FE6FB94D84D3D1D5B1820991</vt:lpwstr>
  </property>
</Properties>
</file>